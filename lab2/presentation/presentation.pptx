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1" r:id="rId14"/>
    <p:sldId id="272" r:id="rId15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4" d="100"/>
          <a:sy n="124" d="100"/>
        </p:scale>
        <p:origin x="108" y="114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213739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0E1115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213739"/>
                </a:solidFill>
                <a:latin typeface="Tahoma"/>
                <a:cs typeface="Tahoma"/>
              </a:defRPr>
            </a:lvl1pPr>
          </a:lstStyle>
          <a:p>
            <a:pPr marL="8509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/17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26"/>
            <a:ext cx="5760720" cy="3239770"/>
          </a:xfrm>
          <a:custGeom>
            <a:avLst/>
            <a:gdLst/>
            <a:ahLst/>
            <a:cxnLst/>
            <a:rect l="l" t="t" r="r" b="b"/>
            <a:pathLst>
              <a:path w="5760720" h="3239770">
                <a:moveTo>
                  <a:pt x="5760593" y="0"/>
                </a:moveTo>
                <a:lnTo>
                  <a:pt x="0" y="0"/>
                </a:lnTo>
                <a:lnTo>
                  <a:pt x="0" y="3239643"/>
                </a:lnTo>
                <a:lnTo>
                  <a:pt x="5760593" y="3239643"/>
                </a:lnTo>
                <a:lnTo>
                  <a:pt x="5760593" y="0"/>
                </a:lnTo>
                <a:close/>
              </a:path>
            </a:pathLst>
          </a:custGeom>
          <a:solidFill>
            <a:srgbClr val="F8F8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213739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E1115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213739"/>
                </a:solidFill>
                <a:latin typeface="Tahoma"/>
                <a:cs typeface="Tahoma"/>
              </a:defRPr>
            </a:lvl1pPr>
          </a:lstStyle>
          <a:p>
            <a:pPr marL="8509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/17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213739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213739"/>
                </a:solidFill>
                <a:latin typeface="Tahoma"/>
                <a:cs typeface="Tahoma"/>
              </a:defRPr>
            </a:lvl1pPr>
          </a:lstStyle>
          <a:p>
            <a:pPr marL="8509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/17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213739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213739"/>
                </a:solidFill>
                <a:latin typeface="Tahoma"/>
                <a:cs typeface="Tahoma"/>
              </a:defRPr>
            </a:lvl1pPr>
          </a:lstStyle>
          <a:p>
            <a:pPr marL="8509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/17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213739"/>
                </a:solidFill>
                <a:latin typeface="Tahoma"/>
                <a:cs typeface="Tahoma"/>
              </a:defRPr>
            </a:lvl1pPr>
          </a:lstStyle>
          <a:p>
            <a:pPr marL="8509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/17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26"/>
            <a:ext cx="5760720" cy="3239770"/>
          </a:xfrm>
          <a:custGeom>
            <a:avLst/>
            <a:gdLst/>
            <a:ahLst/>
            <a:cxnLst/>
            <a:rect l="l" t="t" r="r" b="b"/>
            <a:pathLst>
              <a:path w="5760720" h="3239770">
                <a:moveTo>
                  <a:pt x="5760593" y="0"/>
                </a:moveTo>
                <a:lnTo>
                  <a:pt x="0" y="0"/>
                </a:lnTo>
                <a:lnTo>
                  <a:pt x="0" y="3239643"/>
                </a:lnTo>
                <a:lnTo>
                  <a:pt x="5760593" y="3239643"/>
                </a:lnTo>
                <a:lnTo>
                  <a:pt x="5760593" y="0"/>
                </a:lnTo>
                <a:close/>
              </a:path>
            </a:pathLst>
          </a:custGeom>
          <a:solidFill>
            <a:srgbClr val="F8F8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-25"/>
            <a:ext cx="5760720" cy="359410"/>
          </a:xfrm>
          <a:custGeom>
            <a:avLst/>
            <a:gdLst/>
            <a:ahLst/>
            <a:cxnLst/>
            <a:rect l="l" t="t" r="r" b="b"/>
            <a:pathLst>
              <a:path w="5760720" h="359410">
                <a:moveTo>
                  <a:pt x="5760593" y="0"/>
                </a:moveTo>
                <a:lnTo>
                  <a:pt x="0" y="0"/>
                </a:lnTo>
                <a:lnTo>
                  <a:pt x="0" y="359054"/>
                </a:lnTo>
                <a:lnTo>
                  <a:pt x="5760593" y="359054"/>
                </a:lnTo>
                <a:lnTo>
                  <a:pt x="5760593" y="0"/>
                </a:lnTo>
                <a:close/>
              </a:path>
            </a:pathLst>
          </a:custGeom>
          <a:solidFill>
            <a:srgbClr val="2137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6963" y="787145"/>
            <a:ext cx="1867535" cy="208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213739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34772" y="1099210"/>
            <a:ext cx="2349500" cy="1285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0E1115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16550" y="3002341"/>
            <a:ext cx="254635" cy="125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" b="0" i="0">
                <a:solidFill>
                  <a:srgbClr val="213739"/>
                </a:solidFill>
                <a:latin typeface="Tahoma"/>
                <a:cs typeface="Tahoma"/>
              </a:defRPr>
            </a:lvl1pPr>
          </a:lstStyle>
          <a:p>
            <a:pPr marL="8509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/17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6963" y="787145"/>
            <a:ext cx="18675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Лабораторная</a:t>
            </a:r>
            <a:r>
              <a:rPr dirty="0"/>
              <a:t> </a:t>
            </a:r>
            <a:r>
              <a:rPr spc="-45" dirty="0" err="1"/>
              <a:t>работа</a:t>
            </a:r>
            <a:r>
              <a:rPr spc="-50" dirty="0"/>
              <a:t> </a:t>
            </a:r>
            <a:r>
              <a:rPr spc="-25" dirty="0"/>
              <a:t>№</a:t>
            </a:r>
            <a:r>
              <a:rPr lang="en-US" spc="-25" dirty="0"/>
              <a:t>2</a:t>
            </a:r>
            <a:endParaRPr spc="-25" dirty="0"/>
          </a:p>
        </p:txBody>
      </p:sp>
      <p:sp>
        <p:nvSpPr>
          <p:cNvPr id="3" name="object 3"/>
          <p:cNvSpPr/>
          <p:nvPr/>
        </p:nvSpPr>
        <p:spPr>
          <a:xfrm>
            <a:off x="359663" y="1511825"/>
            <a:ext cx="5041265" cy="5080"/>
          </a:xfrm>
          <a:custGeom>
            <a:avLst/>
            <a:gdLst/>
            <a:ahLst/>
            <a:cxnLst/>
            <a:rect l="l" t="t" r="r" b="b"/>
            <a:pathLst>
              <a:path w="5041265" h="5080">
                <a:moveTo>
                  <a:pt x="5040884" y="0"/>
                </a:moveTo>
                <a:lnTo>
                  <a:pt x="0" y="0"/>
                </a:lnTo>
                <a:lnTo>
                  <a:pt x="0" y="4553"/>
                </a:lnTo>
                <a:lnTo>
                  <a:pt x="5040884" y="4553"/>
                </a:lnTo>
                <a:lnTo>
                  <a:pt x="5040884" y="0"/>
                </a:lnTo>
                <a:close/>
              </a:path>
            </a:pathLst>
          </a:custGeom>
          <a:solidFill>
            <a:srgbClr val="EB80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334772" y="1099210"/>
            <a:ext cx="2349500" cy="964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7000"/>
              </a:lnSpc>
              <a:spcBef>
                <a:spcPts val="100"/>
              </a:spcBef>
            </a:pPr>
            <a:r>
              <a:rPr lang="ru-RU" dirty="0"/>
              <a:t>Структуры данных</a:t>
            </a:r>
            <a:endParaRPr spc="-10" dirty="0"/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pc="-10" dirty="0"/>
          </a:p>
          <a:p>
            <a:pPr marL="24765">
              <a:lnSpc>
                <a:spcPct val="100000"/>
              </a:lnSpc>
            </a:pPr>
            <a:r>
              <a:rPr sz="850" dirty="0">
                <a:solidFill>
                  <a:srgbClr val="213739"/>
                </a:solidFill>
              </a:rPr>
              <a:t>Владимир</a:t>
            </a:r>
            <a:r>
              <a:rPr sz="850" spc="15" dirty="0">
                <a:solidFill>
                  <a:srgbClr val="213739"/>
                </a:solidFill>
              </a:rPr>
              <a:t> </a:t>
            </a:r>
            <a:r>
              <a:rPr sz="850" spc="-10" dirty="0">
                <a:solidFill>
                  <a:srgbClr val="213739"/>
                </a:solidFill>
              </a:rPr>
              <a:t>Базлов</a:t>
            </a:r>
            <a:endParaRPr sz="850" dirty="0"/>
          </a:p>
          <a:p>
            <a:pPr marL="24765">
              <a:lnSpc>
                <a:spcPct val="100000"/>
              </a:lnSpc>
              <a:spcBef>
                <a:spcPts val="575"/>
              </a:spcBef>
            </a:pPr>
            <a:r>
              <a:rPr lang="en-US" sz="850" spc="-30" dirty="0">
                <a:solidFill>
                  <a:srgbClr val="213739"/>
                </a:solidFill>
              </a:rPr>
              <a:t>22</a:t>
            </a:r>
            <a:r>
              <a:rPr sz="850" spc="-60" dirty="0">
                <a:solidFill>
                  <a:srgbClr val="213739"/>
                </a:solidFill>
              </a:rPr>
              <a:t> </a:t>
            </a:r>
            <a:r>
              <a:rPr sz="850" dirty="0">
                <a:solidFill>
                  <a:srgbClr val="213739"/>
                </a:solidFill>
              </a:rPr>
              <a:t>сентября</a:t>
            </a:r>
            <a:r>
              <a:rPr sz="850" spc="-35" dirty="0">
                <a:solidFill>
                  <a:srgbClr val="213739"/>
                </a:solidFill>
              </a:rPr>
              <a:t> </a:t>
            </a:r>
            <a:r>
              <a:rPr sz="850" spc="-20" dirty="0">
                <a:solidFill>
                  <a:srgbClr val="213739"/>
                </a:solidFill>
              </a:rPr>
              <a:t>2026</a:t>
            </a:r>
            <a:endParaRPr sz="850" dirty="0"/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850" dirty="0"/>
          </a:p>
          <a:p>
            <a:pPr marL="24765">
              <a:lnSpc>
                <a:spcPct val="100000"/>
              </a:lnSpc>
              <a:spcBef>
                <a:spcPts val="5"/>
              </a:spcBef>
            </a:pPr>
            <a:r>
              <a:rPr sz="650" dirty="0">
                <a:solidFill>
                  <a:srgbClr val="213739"/>
                </a:solidFill>
              </a:rPr>
              <a:t>Российский</a:t>
            </a:r>
            <a:r>
              <a:rPr sz="650" spc="60" dirty="0">
                <a:solidFill>
                  <a:srgbClr val="213739"/>
                </a:solidFill>
              </a:rPr>
              <a:t> </a:t>
            </a:r>
            <a:r>
              <a:rPr sz="650" dirty="0">
                <a:solidFill>
                  <a:srgbClr val="213739"/>
                </a:solidFill>
              </a:rPr>
              <a:t>университет</a:t>
            </a:r>
            <a:r>
              <a:rPr sz="650" spc="75" dirty="0">
                <a:solidFill>
                  <a:srgbClr val="213739"/>
                </a:solidFill>
              </a:rPr>
              <a:t> </a:t>
            </a:r>
            <a:r>
              <a:rPr sz="650" dirty="0">
                <a:solidFill>
                  <a:srgbClr val="213739"/>
                </a:solidFill>
              </a:rPr>
              <a:t>дружбы</a:t>
            </a:r>
            <a:r>
              <a:rPr sz="650" spc="65" dirty="0">
                <a:solidFill>
                  <a:srgbClr val="213739"/>
                </a:solidFill>
              </a:rPr>
              <a:t> </a:t>
            </a:r>
            <a:r>
              <a:rPr sz="650" dirty="0">
                <a:solidFill>
                  <a:srgbClr val="213739"/>
                </a:solidFill>
              </a:rPr>
              <a:t>народов,</a:t>
            </a:r>
            <a:r>
              <a:rPr sz="650" spc="75" dirty="0">
                <a:solidFill>
                  <a:srgbClr val="213739"/>
                </a:solidFill>
              </a:rPr>
              <a:t> </a:t>
            </a:r>
            <a:r>
              <a:rPr sz="650" dirty="0">
                <a:solidFill>
                  <a:srgbClr val="213739"/>
                </a:solidFill>
              </a:rPr>
              <a:t>Москва,</a:t>
            </a:r>
            <a:r>
              <a:rPr sz="650" spc="70" dirty="0">
                <a:solidFill>
                  <a:srgbClr val="213739"/>
                </a:solidFill>
              </a:rPr>
              <a:t> </a:t>
            </a:r>
            <a:r>
              <a:rPr sz="650" spc="-10" dirty="0">
                <a:solidFill>
                  <a:srgbClr val="213739"/>
                </a:solidFill>
              </a:rPr>
              <a:t>Россия</a:t>
            </a:r>
            <a:endParaRPr sz="65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20" dirty="0"/>
              <a:t>1</a:t>
            </a:fld>
            <a:r>
              <a:rPr spc="-20" dirty="0"/>
              <a:t>/17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828" y="78993"/>
            <a:ext cx="2011071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1000" dirty="0">
                <a:solidFill>
                  <a:schemeClr val="bg1"/>
                </a:solidFill>
                <a:effectLst/>
                <a:latin typeface="Inter" panose="020B05020300000000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Изучение кортежей</a:t>
            </a:r>
            <a:endParaRPr sz="1000" dirty="0">
              <a:solidFill>
                <a:schemeClr val="bg1"/>
              </a:solidFill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358162"/>
            <a:ext cx="5761355" cy="6350"/>
            <a:chOff x="0" y="358162"/>
            <a:chExt cx="5761355" cy="6350"/>
          </a:xfrm>
        </p:grpSpPr>
        <p:sp>
          <p:nvSpPr>
            <p:cNvPr id="4" name="object 4"/>
            <p:cNvSpPr/>
            <p:nvPr/>
          </p:nvSpPr>
          <p:spPr>
            <a:xfrm>
              <a:off x="761" y="361949"/>
              <a:ext cx="5760720" cy="0"/>
            </a:xfrm>
            <a:custGeom>
              <a:avLst/>
              <a:gdLst/>
              <a:ahLst/>
              <a:cxnLst/>
              <a:rect l="l" t="t" r="r" b="b"/>
              <a:pathLst>
                <a:path w="5760720">
                  <a:moveTo>
                    <a:pt x="0" y="0"/>
                  </a:moveTo>
                  <a:lnTo>
                    <a:pt x="5760593" y="0"/>
                  </a:lnTo>
                </a:path>
              </a:pathLst>
            </a:custGeom>
            <a:ln w="5053">
              <a:solidFill>
                <a:srgbClr val="D4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162"/>
              <a:ext cx="5760720" cy="6350"/>
            </a:xfrm>
            <a:custGeom>
              <a:avLst/>
              <a:gdLst/>
              <a:ahLst/>
              <a:cxnLst/>
              <a:rect l="l" t="t" r="r" b="b"/>
              <a:pathLst>
                <a:path w="5760720" h="6350">
                  <a:moveTo>
                    <a:pt x="5760720" y="0"/>
                  </a:moveTo>
                  <a:lnTo>
                    <a:pt x="0" y="0"/>
                  </a:lnTo>
                  <a:lnTo>
                    <a:pt x="0" y="6073"/>
                  </a:lnTo>
                  <a:lnTo>
                    <a:pt x="5760720" y="6073"/>
                  </a:lnTo>
                  <a:lnTo>
                    <a:pt x="5760720" y="0"/>
                  </a:lnTo>
                  <a:close/>
                </a:path>
              </a:pathLst>
            </a:custGeom>
            <a:solidFill>
              <a:srgbClr val="D4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162"/>
              <a:ext cx="1727835" cy="6350"/>
            </a:xfrm>
            <a:custGeom>
              <a:avLst/>
              <a:gdLst/>
              <a:ahLst/>
              <a:cxnLst/>
              <a:rect l="l" t="t" r="r" b="b"/>
              <a:pathLst>
                <a:path w="1727835" h="6350">
                  <a:moveTo>
                    <a:pt x="1727835" y="0"/>
                  </a:moveTo>
                  <a:lnTo>
                    <a:pt x="0" y="0"/>
                  </a:lnTo>
                  <a:lnTo>
                    <a:pt x="0" y="6073"/>
                  </a:lnTo>
                  <a:lnTo>
                    <a:pt x="1727835" y="6073"/>
                  </a:lnTo>
                  <a:lnTo>
                    <a:pt x="1727835" y="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459221" y="3002341"/>
            <a:ext cx="203200" cy="1250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z="650" spc="-20" dirty="0">
                <a:solidFill>
                  <a:srgbClr val="213739"/>
                </a:solidFill>
                <a:latin typeface="Tahoma"/>
                <a:cs typeface="Tahoma"/>
              </a:rPr>
              <a:t>2</a:t>
            </a:fld>
            <a:r>
              <a:rPr sz="650" spc="-20" dirty="0">
                <a:solidFill>
                  <a:srgbClr val="213739"/>
                </a:solidFill>
                <a:latin typeface="Tahoma"/>
                <a:cs typeface="Tahoma"/>
              </a:rPr>
              <a:t>/17</a:t>
            </a:r>
            <a:endParaRPr sz="650">
              <a:latin typeface="Tahoma"/>
              <a:cs typeface="Tahoma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F959DC3-AAB9-48D1-BCC1-7205EE05FF8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92100" y="708471"/>
            <a:ext cx="4986655" cy="193929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829" y="69849"/>
            <a:ext cx="143319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1000" dirty="0">
                <a:solidFill>
                  <a:schemeClr val="bg1"/>
                </a:solidFill>
                <a:effectLst/>
                <a:latin typeface="Inter" panose="020B05020300000000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Изучение словарей</a:t>
            </a:r>
            <a:endParaRPr sz="1000" dirty="0">
              <a:solidFill>
                <a:schemeClr val="bg1"/>
              </a:solidFill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358162"/>
            <a:ext cx="5761355" cy="6350"/>
            <a:chOff x="0" y="358162"/>
            <a:chExt cx="5761355" cy="6350"/>
          </a:xfrm>
        </p:grpSpPr>
        <p:sp>
          <p:nvSpPr>
            <p:cNvPr id="4" name="object 4"/>
            <p:cNvSpPr/>
            <p:nvPr/>
          </p:nvSpPr>
          <p:spPr>
            <a:xfrm>
              <a:off x="761" y="361949"/>
              <a:ext cx="5760720" cy="0"/>
            </a:xfrm>
            <a:custGeom>
              <a:avLst/>
              <a:gdLst/>
              <a:ahLst/>
              <a:cxnLst/>
              <a:rect l="l" t="t" r="r" b="b"/>
              <a:pathLst>
                <a:path w="5760720">
                  <a:moveTo>
                    <a:pt x="0" y="0"/>
                  </a:moveTo>
                  <a:lnTo>
                    <a:pt x="5760593" y="0"/>
                  </a:lnTo>
                </a:path>
              </a:pathLst>
            </a:custGeom>
            <a:ln w="5053">
              <a:solidFill>
                <a:srgbClr val="D4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162"/>
              <a:ext cx="5760720" cy="6350"/>
            </a:xfrm>
            <a:custGeom>
              <a:avLst/>
              <a:gdLst/>
              <a:ahLst/>
              <a:cxnLst/>
              <a:rect l="l" t="t" r="r" b="b"/>
              <a:pathLst>
                <a:path w="5760720" h="6350">
                  <a:moveTo>
                    <a:pt x="5760720" y="0"/>
                  </a:moveTo>
                  <a:lnTo>
                    <a:pt x="0" y="0"/>
                  </a:lnTo>
                  <a:lnTo>
                    <a:pt x="0" y="6073"/>
                  </a:lnTo>
                  <a:lnTo>
                    <a:pt x="5760720" y="6073"/>
                  </a:lnTo>
                  <a:lnTo>
                    <a:pt x="5760720" y="0"/>
                  </a:lnTo>
                  <a:close/>
                </a:path>
              </a:pathLst>
            </a:custGeom>
            <a:solidFill>
              <a:srgbClr val="D4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162"/>
              <a:ext cx="2304415" cy="6350"/>
            </a:xfrm>
            <a:custGeom>
              <a:avLst/>
              <a:gdLst/>
              <a:ahLst/>
              <a:cxnLst/>
              <a:rect l="l" t="t" r="r" b="b"/>
              <a:pathLst>
                <a:path w="2304415" h="6350">
                  <a:moveTo>
                    <a:pt x="2303907" y="0"/>
                  </a:moveTo>
                  <a:lnTo>
                    <a:pt x="0" y="0"/>
                  </a:lnTo>
                  <a:lnTo>
                    <a:pt x="0" y="6073"/>
                  </a:lnTo>
                  <a:lnTo>
                    <a:pt x="2303907" y="6073"/>
                  </a:lnTo>
                  <a:lnTo>
                    <a:pt x="2303907" y="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10" dirty="0"/>
              <a:t>3</a:t>
            </a:fld>
            <a:r>
              <a:rPr spc="-10" dirty="0"/>
              <a:t>/17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68FC1B6-4F9A-4FD2-BEE8-4441694FE30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49007" y="875315"/>
            <a:ext cx="3862705" cy="16811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829" y="78993"/>
            <a:ext cx="152971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1000" dirty="0">
                <a:solidFill>
                  <a:schemeClr val="bg1"/>
                </a:solidFill>
                <a:effectLst/>
                <a:latin typeface="Inter" panose="020B05020300000000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Изучение множеств</a:t>
            </a:r>
            <a:endParaRPr sz="400" dirty="0">
              <a:solidFill>
                <a:schemeClr val="bg1"/>
              </a:solidFill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358162"/>
            <a:ext cx="5761355" cy="6350"/>
            <a:chOff x="0" y="358162"/>
            <a:chExt cx="5761355" cy="6350"/>
          </a:xfrm>
        </p:grpSpPr>
        <p:sp>
          <p:nvSpPr>
            <p:cNvPr id="4" name="object 4"/>
            <p:cNvSpPr/>
            <p:nvPr/>
          </p:nvSpPr>
          <p:spPr>
            <a:xfrm>
              <a:off x="761" y="361949"/>
              <a:ext cx="5760720" cy="0"/>
            </a:xfrm>
            <a:custGeom>
              <a:avLst/>
              <a:gdLst/>
              <a:ahLst/>
              <a:cxnLst/>
              <a:rect l="l" t="t" r="r" b="b"/>
              <a:pathLst>
                <a:path w="5760720">
                  <a:moveTo>
                    <a:pt x="0" y="0"/>
                  </a:moveTo>
                  <a:lnTo>
                    <a:pt x="5760593" y="0"/>
                  </a:lnTo>
                </a:path>
              </a:pathLst>
            </a:custGeom>
            <a:ln w="5053">
              <a:solidFill>
                <a:srgbClr val="D4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162"/>
              <a:ext cx="5760720" cy="6350"/>
            </a:xfrm>
            <a:custGeom>
              <a:avLst/>
              <a:gdLst/>
              <a:ahLst/>
              <a:cxnLst/>
              <a:rect l="l" t="t" r="r" b="b"/>
              <a:pathLst>
                <a:path w="5760720" h="6350">
                  <a:moveTo>
                    <a:pt x="5760720" y="0"/>
                  </a:moveTo>
                  <a:lnTo>
                    <a:pt x="0" y="0"/>
                  </a:lnTo>
                  <a:lnTo>
                    <a:pt x="0" y="6073"/>
                  </a:lnTo>
                  <a:lnTo>
                    <a:pt x="5760720" y="6073"/>
                  </a:lnTo>
                  <a:lnTo>
                    <a:pt x="5760720" y="0"/>
                  </a:lnTo>
                  <a:close/>
                </a:path>
              </a:pathLst>
            </a:custGeom>
            <a:solidFill>
              <a:srgbClr val="D4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162"/>
              <a:ext cx="2880360" cy="6350"/>
            </a:xfrm>
            <a:custGeom>
              <a:avLst/>
              <a:gdLst/>
              <a:ahLst/>
              <a:cxnLst/>
              <a:rect l="l" t="t" r="r" b="b"/>
              <a:pathLst>
                <a:path w="2880360" h="6350">
                  <a:moveTo>
                    <a:pt x="2879979" y="0"/>
                  </a:moveTo>
                  <a:lnTo>
                    <a:pt x="0" y="0"/>
                  </a:lnTo>
                  <a:lnTo>
                    <a:pt x="0" y="6073"/>
                  </a:lnTo>
                  <a:lnTo>
                    <a:pt x="2879979" y="6073"/>
                  </a:lnTo>
                  <a:lnTo>
                    <a:pt x="2879979" y="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10" dirty="0"/>
              <a:t>4</a:t>
            </a:fld>
            <a:r>
              <a:rPr spc="-10" dirty="0"/>
              <a:t>/17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296321C-D48B-409E-8469-367D04F73BB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49300" y="512927"/>
            <a:ext cx="3966498" cy="25685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829" y="78993"/>
            <a:ext cx="248920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1000" dirty="0">
                <a:solidFill>
                  <a:schemeClr val="bg1"/>
                </a:solidFill>
                <a:effectLst/>
                <a:latin typeface="Inter" panose="020B05020300000000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Изучение массивов </a:t>
            </a:r>
            <a:endParaRPr sz="400" dirty="0">
              <a:solidFill>
                <a:schemeClr val="bg1"/>
              </a:solidFill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358162"/>
            <a:ext cx="5761355" cy="6350"/>
            <a:chOff x="0" y="358162"/>
            <a:chExt cx="5761355" cy="6350"/>
          </a:xfrm>
        </p:grpSpPr>
        <p:sp>
          <p:nvSpPr>
            <p:cNvPr id="4" name="object 4"/>
            <p:cNvSpPr/>
            <p:nvPr/>
          </p:nvSpPr>
          <p:spPr>
            <a:xfrm>
              <a:off x="761" y="361949"/>
              <a:ext cx="5760720" cy="0"/>
            </a:xfrm>
            <a:custGeom>
              <a:avLst/>
              <a:gdLst/>
              <a:ahLst/>
              <a:cxnLst/>
              <a:rect l="l" t="t" r="r" b="b"/>
              <a:pathLst>
                <a:path w="5760720">
                  <a:moveTo>
                    <a:pt x="0" y="0"/>
                  </a:moveTo>
                  <a:lnTo>
                    <a:pt x="5760593" y="0"/>
                  </a:lnTo>
                </a:path>
              </a:pathLst>
            </a:custGeom>
            <a:ln w="5053">
              <a:solidFill>
                <a:srgbClr val="D4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162"/>
              <a:ext cx="5760720" cy="6350"/>
            </a:xfrm>
            <a:custGeom>
              <a:avLst/>
              <a:gdLst/>
              <a:ahLst/>
              <a:cxnLst/>
              <a:rect l="l" t="t" r="r" b="b"/>
              <a:pathLst>
                <a:path w="5760720" h="6350">
                  <a:moveTo>
                    <a:pt x="5760720" y="0"/>
                  </a:moveTo>
                  <a:lnTo>
                    <a:pt x="0" y="0"/>
                  </a:lnTo>
                  <a:lnTo>
                    <a:pt x="0" y="6073"/>
                  </a:lnTo>
                  <a:lnTo>
                    <a:pt x="5760720" y="6073"/>
                  </a:lnTo>
                  <a:lnTo>
                    <a:pt x="5760720" y="0"/>
                  </a:lnTo>
                  <a:close/>
                </a:path>
              </a:pathLst>
            </a:custGeom>
            <a:solidFill>
              <a:srgbClr val="D4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162"/>
              <a:ext cx="3456304" cy="6350"/>
            </a:xfrm>
            <a:custGeom>
              <a:avLst/>
              <a:gdLst/>
              <a:ahLst/>
              <a:cxnLst/>
              <a:rect l="l" t="t" r="r" b="b"/>
              <a:pathLst>
                <a:path w="3456304" h="6350">
                  <a:moveTo>
                    <a:pt x="3456178" y="0"/>
                  </a:moveTo>
                  <a:lnTo>
                    <a:pt x="0" y="0"/>
                  </a:lnTo>
                  <a:lnTo>
                    <a:pt x="0" y="6073"/>
                  </a:lnTo>
                  <a:lnTo>
                    <a:pt x="3456178" y="6073"/>
                  </a:lnTo>
                  <a:lnTo>
                    <a:pt x="3456178" y="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10" dirty="0"/>
              <a:t>5</a:t>
            </a:fld>
            <a:r>
              <a:rPr spc="-10" dirty="0"/>
              <a:t>/17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18E2F18-8127-4C06-AD52-FA93B12CB3A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48688" y="540267"/>
            <a:ext cx="3334411" cy="25236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898" y="94614"/>
            <a:ext cx="7328002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1000" dirty="0">
                <a:solidFill>
                  <a:schemeClr val="bg1"/>
                </a:solidFill>
                <a:effectLst/>
                <a:latin typeface="Inter" panose="020B05020300000000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Общие функции для структур данных</a:t>
            </a:r>
            <a:endParaRPr sz="400" dirty="0">
              <a:solidFill>
                <a:schemeClr val="bg1"/>
              </a:solidFill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358162"/>
            <a:ext cx="5761355" cy="6350"/>
            <a:chOff x="0" y="358162"/>
            <a:chExt cx="5761355" cy="6350"/>
          </a:xfrm>
        </p:grpSpPr>
        <p:sp>
          <p:nvSpPr>
            <p:cNvPr id="4" name="object 4"/>
            <p:cNvSpPr/>
            <p:nvPr/>
          </p:nvSpPr>
          <p:spPr>
            <a:xfrm>
              <a:off x="761" y="361949"/>
              <a:ext cx="5760720" cy="0"/>
            </a:xfrm>
            <a:custGeom>
              <a:avLst/>
              <a:gdLst/>
              <a:ahLst/>
              <a:cxnLst/>
              <a:rect l="l" t="t" r="r" b="b"/>
              <a:pathLst>
                <a:path w="5760720">
                  <a:moveTo>
                    <a:pt x="0" y="0"/>
                  </a:moveTo>
                  <a:lnTo>
                    <a:pt x="5760593" y="0"/>
                  </a:lnTo>
                </a:path>
              </a:pathLst>
            </a:custGeom>
            <a:ln w="5053">
              <a:solidFill>
                <a:srgbClr val="D4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162"/>
              <a:ext cx="5760720" cy="6350"/>
            </a:xfrm>
            <a:custGeom>
              <a:avLst/>
              <a:gdLst/>
              <a:ahLst/>
              <a:cxnLst/>
              <a:rect l="l" t="t" r="r" b="b"/>
              <a:pathLst>
                <a:path w="5760720" h="6350">
                  <a:moveTo>
                    <a:pt x="5760720" y="0"/>
                  </a:moveTo>
                  <a:lnTo>
                    <a:pt x="0" y="0"/>
                  </a:lnTo>
                  <a:lnTo>
                    <a:pt x="0" y="6073"/>
                  </a:lnTo>
                  <a:lnTo>
                    <a:pt x="5760720" y="6073"/>
                  </a:lnTo>
                  <a:lnTo>
                    <a:pt x="5760720" y="0"/>
                  </a:lnTo>
                  <a:close/>
                </a:path>
              </a:pathLst>
            </a:custGeom>
            <a:solidFill>
              <a:srgbClr val="D4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162"/>
              <a:ext cx="3456304" cy="6350"/>
            </a:xfrm>
            <a:custGeom>
              <a:avLst/>
              <a:gdLst/>
              <a:ahLst/>
              <a:cxnLst/>
              <a:rect l="l" t="t" r="r" b="b"/>
              <a:pathLst>
                <a:path w="3456304" h="6350">
                  <a:moveTo>
                    <a:pt x="3456178" y="0"/>
                  </a:moveTo>
                  <a:lnTo>
                    <a:pt x="0" y="0"/>
                  </a:lnTo>
                  <a:lnTo>
                    <a:pt x="0" y="6073"/>
                  </a:lnTo>
                  <a:lnTo>
                    <a:pt x="3456178" y="6073"/>
                  </a:lnTo>
                  <a:lnTo>
                    <a:pt x="3456178" y="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10" dirty="0"/>
              <a:t>6</a:t>
            </a:fld>
            <a:r>
              <a:rPr spc="-10" dirty="0"/>
              <a:t>/17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B28277E-58A2-4120-B15E-CD48281E0FF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032" y="769937"/>
            <a:ext cx="5753735" cy="17049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829" y="78993"/>
            <a:ext cx="215773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1000" dirty="0">
                <a:solidFill>
                  <a:schemeClr val="bg1"/>
                </a:solidFill>
                <a:effectLst/>
                <a:latin typeface="Inter" panose="020B05020300000000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Векторы x и y</a:t>
            </a:r>
            <a:endParaRPr sz="400" dirty="0">
              <a:solidFill>
                <a:schemeClr val="bg1"/>
              </a:solidFill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358162"/>
            <a:ext cx="5761355" cy="6350"/>
            <a:chOff x="0" y="358162"/>
            <a:chExt cx="5761355" cy="6350"/>
          </a:xfrm>
        </p:grpSpPr>
        <p:sp>
          <p:nvSpPr>
            <p:cNvPr id="4" name="object 4"/>
            <p:cNvSpPr/>
            <p:nvPr/>
          </p:nvSpPr>
          <p:spPr>
            <a:xfrm>
              <a:off x="761" y="361949"/>
              <a:ext cx="5760720" cy="0"/>
            </a:xfrm>
            <a:custGeom>
              <a:avLst/>
              <a:gdLst/>
              <a:ahLst/>
              <a:cxnLst/>
              <a:rect l="l" t="t" r="r" b="b"/>
              <a:pathLst>
                <a:path w="5760720">
                  <a:moveTo>
                    <a:pt x="0" y="0"/>
                  </a:moveTo>
                  <a:lnTo>
                    <a:pt x="5760593" y="0"/>
                  </a:lnTo>
                </a:path>
              </a:pathLst>
            </a:custGeom>
            <a:ln w="5053">
              <a:solidFill>
                <a:srgbClr val="D4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162"/>
              <a:ext cx="5760720" cy="6350"/>
            </a:xfrm>
            <a:custGeom>
              <a:avLst/>
              <a:gdLst/>
              <a:ahLst/>
              <a:cxnLst/>
              <a:rect l="l" t="t" r="r" b="b"/>
              <a:pathLst>
                <a:path w="5760720" h="6350">
                  <a:moveTo>
                    <a:pt x="5760720" y="0"/>
                  </a:moveTo>
                  <a:lnTo>
                    <a:pt x="0" y="0"/>
                  </a:lnTo>
                  <a:lnTo>
                    <a:pt x="0" y="6073"/>
                  </a:lnTo>
                  <a:lnTo>
                    <a:pt x="5760720" y="6073"/>
                  </a:lnTo>
                  <a:lnTo>
                    <a:pt x="5760720" y="0"/>
                  </a:lnTo>
                  <a:close/>
                </a:path>
              </a:pathLst>
            </a:custGeom>
            <a:solidFill>
              <a:srgbClr val="D4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162"/>
              <a:ext cx="4032250" cy="6350"/>
            </a:xfrm>
            <a:custGeom>
              <a:avLst/>
              <a:gdLst/>
              <a:ahLst/>
              <a:cxnLst/>
              <a:rect l="l" t="t" r="r" b="b"/>
              <a:pathLst>
                <a:path w="4032250" h="6350">
                  <a:moveTo>
                    <a:pt x="4032250" y="0"/>
                  </a:moveTo>
                  <a:lnTo>
                    <a:pt x="0" y="0"/>
                  </a:lnTo>
                  <a:lnTo>
                    <a:pt x="0" y="6073"/>
                  </a:lnTo>
                  <a:lnTo>
                    <a:pt x="4032250" y="6073"/>
                  </a:lnTo>
                  <a:lnTo>
                    <a:pt x="4032250" y="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10" dirty="0"/>
              <a:t>7</a:t>
            </a:fld>
            <a:r>
              <a:rPr spc="-10" dirty="0"/>
              <a:t>/17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DD2FA48-A2EA-4174-86CC-2E5D79C201B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49300" y="588976"/>
            <a:ext cx="3929380" cy="24445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829" y="78993"/>
            <a:ext cx="3763671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1000" dirty="0">
                <a:solidFill>
                  <a:schemeClr val="bg1"/>
                </a:solidFill>
                <a:effectLst/>
                <a:latin typeface="Inter" panose="020B05020300000000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Массив квадратов чисел от 1 до 100</a:t>
            </a:r>
            <a:endParaRPr sz="400" dirty="0">
              <a:solidFill>
                <a:schemeClr val="bg1"/>
              </a:solidFill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358162"/>
            <a:ext cx="5761355" cy="6350"/>
            <a:chOff x="0" y="358162"/>
            <a:chExt cx="5761355" cy="6350"/>
          </a:xfrm>
        </p:grpSpPr>
        <p:sp>
          <p:nvSpPr>
            <p:cNvPr id="4" name="object 4"/>
            <p:cNvSpPr/>
            <p:nvPr/>
          </p:nvSpPr>
          <p:spPr>
            <a:xfrm>
              <a:off x="761" y="361949"/>
              <a:ext cx="5760720" cy="0"/>
            </a:xfrm>
            <a:custGeom>
              <a:avLst/>
              <a:gdLst/>
              <a:ahLst/>
              <a:cxnLst/>
              <a:rect l="l" t="t" r="r" b="b"/>
              <a:pathLst>
                <a:path w="5760720">
                  <a:moveTo>
                    <a:pt x="0" y="0"/>
                  </a:moveTo>
                  <a:lnTo>
                    <a:pt x="5760593" y="0"/>
                  </a:lnTo>
                </a:path>
              </a:pathLst>
            </a:custGeom>
            <a:ln w="5053">
              <a:solidFill>
                <a:srgbClr val="D4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162"/>
              <a:ext cx="5760720" cy="6350"/>
            </a:xfrm>
            <a:custGeom>
              <a:avLst/>
              <a:gdLst/>
              <a:ahLst/>
              <a:cxnLst/>
              <a:rect l="l" t="t" r="r" b="b"/>
              <a:pathLst>
                <a:path w="5760720" h="6350">
                  <a:moveTo>
                    <a:pt x="5760720" y="0"/>
                  </a:moveTo>
                  <a:lnTo>
                    <a:pt x="0" y="0"/>
                  </a:lnTo>
                  <a:lnTo>
                    <a:pt x="0" y="6073"/>
                  </a:lnTo>
                  <a:lnTo>
                    <a:pt x="5760720" y="6073"/>
                  </a:lnTo>
                  <a:lnTo>
                    <a:pt x="5760720" y="0"/>
                  </a:lnTo>
                  <a:close/>
                </a:path>
              </a:pathLst>
            </a:custGeom>
            <a:solidFill>
              <a:srgbClr val="D4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162"/>
              <a:ext cx="4608830" cy="6350"/>
            </a:xfrm>
            <a:custGeom>
              <a:avLst/>
              <a:gdLst/>
              <a:ahLst/>
              <a:cxnLst/>
              <a:rect l="l" t="t" r="r" b="b"/>
              <a:pathLst>
                <a:path w="4608830" h="6350">
                  <a:moveTo>
                    <a:pt x="4608449" y="0"/>
                  </a:moveTo>
                  <a:lnTo>
                    <a:pt x="0" y="0"/>
                  </a:lnTo>
                  <a:lnTo>
                    <a:pt x="0" y="6073"/>
                  </a:lnTo>
                  <a:lnTo>
                    <a:pt x="4608449" y="6073"/>
                  </a:lnTo>
                  <a:lnTo>
                    <a:pt x="4608449" y="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10" dirty="0"/>
              <a:t>8</a:t>
            </a:fld>
            <a:r>
              <a:rPr spc="-10" dirty="0"/>
              <a:t>/17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775FD5E-4E1D-4050-91F5-0341DFA2997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032" y="1027112"/>
            <a:ext cx="5753735" cy="11906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829" y="78993"/>
            <a:ext cx="144907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1000" dirty="0">
                <a:solidFill>
                  <a:schemeClr val="bg1"/>
                </a:solidFill>
                <a:effectLst/>
                <a:latin typeface="Inter" panose="020B05020300000000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Пакет </a:t>
            </a:r>
            <a:r>
              <a:rPr lang="ru-RU" sz="1000" dirty="0" err="1">
                <a:solidFill>
                  <a:schemeClr val="bg1"/>
                </a:solidFill>
                <a:effectLst/>
                <a:latin typeface="Inter" panose="020B05020300000000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Primes</a:t>
            </a:r>
            <a:endParaRPr sz="400" dirty="0">
              <a:solidFill>
                <a:schemeClr val="bg1"/>
              </a:solidFill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358162"/>
            <a:ext cx="5761355" cy="6350"/>
            <a:chOff x="0" y="358162"/>
            <a:chExt cx="5761355" cy="6350"/>
          </a:xfrm>
        </p:grpSpPr>
        <p:sp>
          <p:nvSpPr>
            <p:cNvPr id="4" name="object 4"/>
            <p:cNvSpPr/>
            <p:nvPr/>
          </p:nvSpPr>
          <p:spPr>
            <a:xfrm>
              <a:off x="761" y="361949"/>
              <a:ext cx="5760720" cy="0"/>
            </a:xfrm>
            <a:custGeom>
              <a:avLst/>
              <a:gdLst/>
              <a:ahLst/>
              <a:cxnLst/>
              <a:rect l="l" t="t" r="r" b="b"/>
              <a:pathLst>
                <a:path w="5760720">
                  <a:moveTo>
                    <a:pt x="0" y="0"/>
                  </a:moveTo>
                  <a:lnTo>
                    <a:pt x="5760593" y="0"/>
                  </a:lnTo>
                </a:path>
              </a:pathLst>
            </a:custGeom>
            <a:ln w="5053">
              <a:solidFill>
                <a:srgbClr val="D4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162"/>
              <a:ext cx="5760720" cy="6350"/>
            </a:xfrm>
            <a:custGeom>
              <a:avLst/>
              <a:gdLst/>
              <a:ahLst/>
              <a:cxnLst/>
              <a:rect l="l" t="t" r="r" b="b"/>
              <a:pathLst>
                <a:path w="5760720" h="6350">
                  <a:moveTo>
                    <a:pt x="5760720" y="0"/>
                  </a:moveTo>
                  <a:lnTo>
                    <a:pt x="0" y="0"/>
                  </a:lnTo>
                  <a:lnTo>
                    <a:pt x="0" y="6073"/>
                  </a:lnTo>
                  <a:lnTo>
                    <a:pt x="5760720" y="6073"/>
                  </a:lnTo>
                  <a:lnTo>
                    <a:pt x="5760720" y="0"/>
                  </a:lnTo>
                  <a:close/>
                </a:path>
              </a:pathLst>
            </a:custGeom>
            <a:solidFill>
              <a:srgbClr val="D4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162"/>
              <a:ext cx="5184775" cy="6350"/>
            </a:xfrm>
            <a:custGeom>
              <a:avLst/>
              <a:gdLst/>
              <a:ahLst/>
              <a:cxnLst/>
              <a:rect l="l" t="t" r="r" b="b"/>
              <a:pathLst>
                <a:path w="5184775" h="6350">
                  <a:moveTo>
                    <a:pt x="5184521" y="0"/>
                  </a:moveTo>
                  <a:lnTo>
                    <a:pt x="0" y="0"/>
                  </a:lnTo>
                  <a:lnTo>
                    <a:pt x="0" y="6073"/>
                  </a:lnTo>
                  <a:lnTo>
                    <a:pt x="5184521" y="6073"/>
                  </a:lnTo>
                  <a:lnTo>
                    <a:pt x="5184521" y="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10" dirty="0"/>
              <a:t>9</a:t>
            </a:fld>
            <a:r>
              <a:rPr spc="-10" dirty="0"/>
              <a:t>/17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5741155-D698-49B5-9C6A-9B94CAE4998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7596" y="477609"/>
            <a:ext cx="3062605" cy="2339338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8E7A87F-F198-465D-B57B-FE7B2F72CEE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059003" y="495937"/>
            <a:ext cx="2624455" cy="233933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829" y="78993"/>
            <a:ext cx="131254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1000" dirty="0">
                <a:solidFill>
                  <a:schemeClr val="bg1"/>
                </a:solidFill>
                <a:effectLst/>
                <a:latin typeface="Inter" panose="020B05020300000000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Задача 6.1</a:t>
            </a:r>
            <a:endParaRPr sz="400" dirty="0">
              <a:solidFill>
                <a:schemeClr val="bg1"/>
              </a:solidFill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358162"/>
            <a:ext cx="5761355" cy="6350"/>
            <a:chOff x="0" y="358162"/>
            <a:chExt cx="5761355" cy="6350"/>
          </a:xfrm>
        </p:grpSpPr>
        <p:sp>
          <p:nvSpPr>
            <p:cNvPr id="4" name="object 4"/>
            <p:cNvSpPr/>
            <p:nvPr/>
          </p:nvSpPr>
          <p:spPr>
            <a:xfrm>
              <a:off x="761" y="361949"/>
              <a:ext cx="5760720" cy="0"/>
            </a:xfrm>
            <a:custGeom>
              <a:avLst/>
              <a:gdLst/>
              <a:ahLst/>
              <a:cxnLst/>
              <a:rect l="l" t="t" r="r" b="b"/>
              <a:pathLst>
                <a:path w="5760720">
                  <a:moveTo>
                    <a:pt x="0" y="0"/>
                  </a:moveTo>
                  <a:lnTo>
                    <a:pt x="5760593" y="0"/>
                  </a:lnTo>
                </a:path>
              </a:pathLst>
            </a:custGeom>
            <a:ln w="5053">
              <a:solidFill>
                <a:srgbClr val="D4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162"/>
              <a:ext cx="5760720" cy="6350"/>
            </a:xfrm>
            <a:custGeom>
              <a:avLst/>
              <a:gdLst/>
              <a:ahLst/>
              <a:cxnLst/>
              <a:rect l="l" t="t" r="r" b="b"/>
              <a:pathLst>
                <a:path w="5760720" h="6350">
                  <a:moveTo>
                    <a:pt x="5760720" y="0"/>
                  </a:moveTo>
                  <a:lnTo>
                    <a:pt x="0" y="0"/>
                  </a:lnTo>
                  <a:lnTo>
                    <a:pt x="0" y="6073"/>
                  </a:lnTo>
                  <a:lnTo>
                    <a:pt x="5760720" y="6073"/>
                  </a:lnTo>
                  <a:lnTo>
                    <a:pt x="5760720" y="0"/>
                  </a:lnTo>
                  <a:close/>
                </a:path>
              </a:pathLst>
            </a:custGeom>
            <a:solidFill>
              <a:srgbClr val="D4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162"/>
              <a:ext cx="5184775" cy="6350"/>
            </a:xfrm>
            <a:custGeom>
              <a:avLst/>
              <a:gdLst/>
              <a:ahLst/>
              <a:cxnLst/>
              <a:rect l="l" t="t" r="r" b="b"/>
              <a:pathLst>
                <a:path w="5184775" h="6350">
                  <a:moveTo>
                    <a:pt x="5184521" y="0"/>
                  </a:moveTo>
                  <a:lnTo>
                    <a:pt x="0" y="0"/>
                  </a:lnTo>
                  <a:lnTo>
                    <a:pt x="0" y="6073"/>
                  </a:lnTo>
                  <a:lnTo>
                    <a:pt x="5184521" y="6073"/>
                  </a:lnTo>
                  <a:lnTo>
                    <a:pt x="5184521" y="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10" dirty="0"/>
              <a:t>10</a:t>
            </a:fld>
            <a:r>
              <a:rPr spc="-10" dirty="0"/>
              <a:t>/17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FD6AE8C-7A42-4A16-8B68-EA2FA2D79C9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4132" y="1289050"/>
            <a:ext cx="5677535" cy="6667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829" y="78993"/>
            <a:ext cx="149415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1000" dirty="0">
                <a:solidFill>
                  <a:schemeClr val="bg1"/>
                </a:solidFill>
                <a:effectLst/>
                <a:latin typeface="Inter" panose="020B05020300000000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Задача 6.2</a:t>
            </a:r>
            <a:endParaRPr lang="ru-RU" sz="400" dirty="0">
              <a:solidFill>
                <a:schemeClr val="bg1"/>
              </a:solidFill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358162"/>
            <a:ext cx="5761355" cy="6350"/>
            <a:chOff x="0" y="358162"/>
            <a:chExt cx="5761355" cy="6350"/>
          </a:xfrm>
        </p:grpSpPr>
        <p:sp>
          <p:nvSpPr>
            <p:cNvPr id="4" name="object 4"/>
            <p:cNvSpPr/>
            <p:nvPr/>
          </p:nvSpPr>
          <p:spPr>
            <a:xfrm>
              <a:off x="761" y="361949"/>
              <a:ext cx="5760720" cy="0"/>
            </a:xfrm>
            <a:custGeom>
              <a:avLst/>
              <a:gdLst/>
              <a:ahLst/>
              <a:cxnLst/>
              <a:rect l="l" t="t" r="r" b="b"/>
              <a:pathLst>
                <a:path w="5760720">
                  <a:moveTo>
                    <a:pt x="0" y="0"/>
                  </a:moveTo>
                  <a:lnTo>
                    <a:pt x="5760593" y="0"/>
                  </a:lnTo>
                </a:path>
              </a:pathLst>
            </a:custGeom>
            <a:ln w="5053">
              <a:solidFill>
                <a:srgbClr val="D4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162"/>
              <a:ext cx="5760720" cy="6350"/>
            </a:xfrm>
            <a:custGeom>
              <a:avLst/>
              <a:gdLst/>
              <a:ahLst/>
              <a:cxnLst/>
              <a:rect l="l" t="t" r="r" b="b"/>
              <a:pathLst>
                <a:path w="5760720" h="6350">
                  <a:moveTo>
                    <a:pt x="5760720" y="0"/>
                  </a:moveTo>
                  <a:lnTo>
                    <a:pt x="0" y="0"/>
                  </a:lnTo>
                  <a:lnTo>
                    <a:pt x="0" y="6073"/>
                  </a:lnTo>
                  <a:lnTo>
                    <a:pt x="5760720" y="6073"/>
                  </a:lnTo>
                  <a:lnTo>
                    <a:pt x="5760720" y="0"/>
                  </a:lnTo>
                  <a:close/>
                </a:path>
              </a:pathLst>
            </a:custGeom>
            <a:solidFill>
              <a:srgbClr val="D4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162"/>
              <a:ext cx="5184775" cy="6350"/>
            </a:xfrm>
            <a:custGeom>
              <a:avLst/>
              <a:gdLst/>
              <a:ahLst/>
              <a:cxnLst/>
              <a:rect l="l" t="t" r="r" b="b"/>
              <a:pathLst>
                <a:path w="5184775" h="6350">
                  <a:moveTo>
                    <a:pt x="5184521" y="0"/>
                  </a:moveTo>
                  <a:lnTo>
                    <a:pt x="0" y="0"/>
                  </a:lnTo>
                  <a:lnTo>
                    <a:pt x="0" y="6073"/>
                  </a:lnTo>
                  <a:lnTo>
                    <a:pt x="5184521" y="6073"/>
                  </a:lnTo>
                  <a:lnTo>
                    <a:pt x="5184521" y="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10" dirty="0"/>
              <a:t>11</a:t>
            </a:fld>
            <a:r>
              <a:rPr spc="-10" dirty="0"/>
              <a:t>/17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E9F9DA9-DB17-4B0D-9803-122CFF5E79E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6520" y="1217612"/>
            <a:ext cx="5572760" cy="8096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829" y="78993"/>
            <a:ext cx="103187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1000" dirty="0">
                <a:solidFill>
                  <a:schemeClr val="bg1"/>
                </a:solidFill>
                <a:effectLst/>
                <a:latin typeface="Inter" panose="020B05020300000000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Задача 6.3</a:t>
            </a:r>
            <a:endParaRPr lang="ru-RU" sz="400" dirty="0">
              <a:solidFill>
                <a:schemeClr val="bg1"/>
              </a:solidFill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358162"/>
            <a:ext cx="5761355" cy="6350"/>
            <a:chOff x="0" y="358162"/>
            <a:chExt cx="5761355" cy="6350"/>
          </a:xfrm>
        </p:grpSpPr>
        <p:sp>
          <p:nvSpPr>
            <p:cNvPr id="4" name="object 4"/>
            <p:cNvSpPr/>
            <p:nvPr/>
          </p:nvSpPr>
          <p:spPr>
            <a:xfrm>
              <a:off x="761" y="361949"/>
              <a:ext cx="5760720" cy="0"/>
            </a:xfrm>
            <a:custGeom>
              <a:avLst/>
              <a:gdLst/>
              <a:ahLst/>
              <a:cxnLst/>
              <a:rect l="l" t="t" r="r" b="b"/>
              <a:pathLst>
                <a:path w="5760720">
                  <a:moveTo>
                    <a:pt x="0" y="0"/>
                  </a:moveTo>
                  <a:lnTo>
                    <a:pt x="5760593" y="0"/>
                  </a:lnTo>
                </a:path>
              </a:pathLst>
            </a:custGeom>
            <a:ln w="5053">
              <a:solidFill>
                <a:srgbClr val="D4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162"/>
              <a:ext cx="5760720" cy="6350"/>
            </a:xfrm>
            <a:custGeom>
              <a:avLst/>
              <a:gdLst/>
              <a:ahLst/>
              <a:cxnLst/>
              <a:rect l="l" t="t" r="r" b="b"/>
              <a:pathLst>
                <a:path w="5760720" h="6350">
                  <a:moveTo>
                    <a:pt x="5760720" y="0"/>
                  </a:moveTo>
                  <a:lnTo>
                    <a:pt x="0" y="0"/>
                  </a:lnTo>
                  <a:lnTo>
                    <a:pt x="0" y="6073"/>
                  </a:lnTo>
                  <a:lnTo>
                    <a:pt x="5760720" y="6073"/>
                  </a:lnTo>
                  <a:lnTo>
                    <a:pt x="5760720" y="0"/>
                  </a:lnTo>
                  <a:close/>
                </a:path>
              </a:pathLst>
            </a:custGeom>
            <a:solidFill>
              <a:srgbClr val="D4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162"/>
              <a:ext cx="5184775" cy="6350"/>
            </a:xfrm>
            <a:custGeom>
              <a:avLst/>
              <a:gdLst/>
              <a:ahLst/>
              <a:cxnLst/>
              <a:rect l="l" t="t" r="r" b="b"/>
              <a:pathLst>
                <a:path w="5184775" h="6350">
                  <a:moveTo>
                    <a:pt x="5184521" y="0"/>
                  </a:moveTo>
                  <a:lnTo>
                    <a:pt x="0" y="0"/>
                  </a:lnTo>
                  <a:lnTo>
                    <a:pt x="0" y="6073"/>
                  </a:lnTo>
                  <a:lnTo>
                    <a:pt x="5184521" y="6073"/>
                  </a:lnTo>
                  <a:lnTo>
                    <a:pt x="5184521" y="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10" dirty="0"/>
              <a:t>12</a:t>
            </a:fld>
            <a:r>
              <a:rPr spc="-10" dirty="0"/>
              <a:t>/17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79F1978-C033-4520-B970-E6DDD09902B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25132" y="727075"/>
            <a:ext cx="4915535" cy="17907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26"/>
            <a:ext cx="5760720" cy="3239770"/>
          </a:xfrm>
          <a:custGeom>
            <a:avLst/>
            <a:gdLst/>
            <a:ahLst/>
            <a:cxnLst/>
            <a:rect l="l" t="t" r="r" b="b"/>
            <a:pathLst>
              <a:path w="5760720" h="3239770">
                <a:moveTo>
                  <a:pt x="5760593" y="0"/>
                </a:moveTo>
                <a:lnTo>
                  <a:pt x="0" y="0"/>
                </a:lnTo>
                <a:lnTo>
                  <a:pt x="0" y="3239643"/>
                </a:lnTo>
                <a:lnTo>
                  <a:pt x="5760593" y="3239643"/>
                </a:lnTo>
                <a:lnTo>
                  <a:pt x="5760593" y="0"/>
                </a:lnTo>
                <a:close/>
              </a:path>
            </a:pathLst>
          </a:custGeom>
          <a:solidFill>
            <a:srgbClr val="F8F8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573530" y="1301572"/>
            <a:ext cx="1020444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u="sng" spc="-60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Lucida Sans Unicode"/>
                <a:cs typeface="Lucida Sans Unicode"/>
                <a:hlinkClick r:id="rId2" action="ppaction://hlinksldjump"/>
              </a:rPr>
              <a:t>Итоги</a:t>
            </a:r>
            <a:r>
              <a:rPr sz="1200" u="sng" spc="-95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Lucida Sans Unicode"/>
                <a:cs typeface="Lucida Sans Unicode"/>
                <a:hlinkClick r:id="rId2" action="ppaction://hlinksldjump"/>
              </a:rPr>
              <a:t> </a:t>
            </a:r>
            <a:r>
              <a:rPr sz="1200" u="sng" spc="-10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Lucida Sans Unicode"/>
                <a:cs typeface="Lucida Sans Unicode"/>
                <a:hlinkClick r:id="rId2" action="ppaction://hlinksldjump"/>
              </a:rPr>
              <a:t>работы</a:t>
            </a:r>
            <a:endParaRPr sz="1200">
              <a:latin typeface="Lucida Sans Unicode"/>
              <a:cs typeface="Lucida Sans Unicode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586483" y="1664225"/>
            <a:ext cx="2587625" cy="5080"/>
            <a:chOff x="1586483" y="1664225"/>
            <a:chExt cx="2587625" cy="5080"/>
          </a:xfrm>
        </p:grpSpPr>
        <p:sp>
          <p:nvSpPr>
            <p:cNvPr id="5" name="object 5"/>
            <p:cNvSpPr/>
            <p:nvPr/>
          </p:nvSpPr>
          <p:spPr>
            <a:xfrm>
              <a:off x="1586483" y="1664225"/>
              <a:ext cx="2587625" cy="5080"/>
            </a:xfrm>
            <a:custGeom>
              <a:avLst/>
              <a:gdLst/>
              <a:ahLst/>
              <a:cxnLst/>
              <a:rect l="l" t="t" r="r" b="b"/>
              <a:pathLst>
                <a:path w="2587625" h="5080">
                  <a:moveTo>
                    <a:pt x="2587116" y="0"/>
                  </a:moveTo>
                  <a:lnTo>
                    <a:pt x="0" y="0"/>
                  </a:lnTo>
                  <a:lnTo>
                    <a:pt x="0" y="4553"/>
                  </a:lnTo>
                  <a:lnTo>
                    <a:pt x="2587116" y="4553"/>
                  </a:lnTo>
                  <a:lnTo>
                    <a:pt x="2587116" y="0"/>
                  </a:lnTo>
                  <a:close/>
                </a:path>
              </a:pathLst>
            </a:custGeom>
            <a:solidFill>
              <a:srgbClr val="D4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86483" y="1664225"/>
              <a:ext cx="2328545" cy="5080"/>
            </a:xfrm>
            <a:custGeom>
              <a:avLst/>
              <a:gdLst/>
              <a:ahLst/>
              <a:cxnLst/>
              <a:rect l="l" t="t" r="r" b="b"/>
              <a:pathLst>
                <a:path w="2328545" h="5080">
                  <a:moveTo>
                    <a:pt x="2328291" y="0"/>
                  </a:moveTo>
                  <a:lnTo>
                    <a:pt x="0" y="0"/>
                  </a:lnTo>
                  <a:lnTo>
                    <a:pt x="0" y="4553"/>
                  </a:lnTo>
                  <a:lnTo>
                    <a:pt x="2328291" y="4553"/>
                  </a:lnTo>
                  <a:lnTo>
                    <a:pt x="2328291" y="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10" dirty="0"/>
              <a:t>13</a:t>
            </a:fld>
            <a:r>
              <a:rPr spc="-10" dirty="0"/>
              <a:t>/17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25"/>
            <a:ext cx="5760720" cy="359410"/>
          </a:xfrm>
          <a:custGeom>
            <a:avLst/>
            <a:gdLst/>
            <a:ahLst/>
            <a:cxnLst/>
            <a:rect l="l" t="t" r="r" b="b"/>
            <a:pathLst>
              <a:path w="5760720" h="359410">
                <a:moveTo>
                  <a:pt x="5760593" y="0"/>
                </a:moveTo>
                <a:lnTo>
                  <a:pt x="0" y="0"/>
                </a:lnTo>
                <a:lnTo>
                  <a:pt x="0" y="359054"/>
                </a:lnTo>
                <a:lnTo>
                  <a:pt x="5760593" y="359054"/>
                </a:lnTo>
                <a:lnTo>
                  <a:pt x="5760593" y="0"/>
                </a:lnTo>
                <a:close/>
              </a:path>
            </a:pathLst>
          </a:custGeom>
          <a:solidFill>
            <a:srgbClr val="2137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22021" y="65277"/>
            <a:ext cx="4152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F8F8F8"/>
                </a:solidFill>
              </a:rPr>
              <a:t>Вывод</a:t>
            </a:r>
            <a:endParaRPr sz="1000"/>
          </a:p>
        </p:txBody>
      </p:sp>
      <p:grpSp>
        <p:nvGrpSpPr>
          <p:cNvPr id="4" name="object 4"/>
          <p:cNvGrpSpPr/>
          <p:nvPr/>
        </p:nvGrpSpPr>
        <p:grpSpPr>
          <a:xfrm>
            <a:off x="0" y="358162"/>
            <a:ext cx="5761355" cy="6350"/>
            <a:chOff x="0" y="358162"/>
            <a:chExt cx="5761355" cy="6350"/>
          </a:xfrm>
        </p:grpSpPr>
        <p:sp>
          <p:nvSpPr>
            <p:cNvPr id="5" name="object 5"/>
            <p:cNvSpPr/>
            <p:nvPr/>
          </p:nvSpPr>
          <p:spPr>
            <a:xfrm>
              <a:off x="761" y="361949"/>
              <a:ext cx="5760720" cy="0"/>
            </a:xfrm>
            <a:custGeom>
              <a:avLst/>
              <a:gdLst/>
              <a:ahLst/>
              <a:cxnLst/>
              <a:rect l="l" t="t" r="r" b="b"/>
              <a:pathLst>
                <a:path w="5760720">
                  <a:moveTo>
                    <a:pt x="0" y="0"/>
                  </a:moveTo>
                  <a:lnTo>
                    <a:pt x="5760593" y="0"/>
                  </a:lnTo>
                </a:path>
              </a:pathLst>
            </a:custGeom>
            <a:ln w="5053">
              <a:solidFill>
                <a:srgbClr val="D4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162"/>
              <a:ext cx="5760720" cy="6350"/>
            </a:xfrm>
            <a:custGeom>
              <a:avLst/>
              <a:gdLst/>
              <a:ahLst/>
              <a:cxnLst/>
              <a:rect l="l" t="t" r="r" b="b"/>
              <a:pathLst>
                <a:path w="5760720" h="6350">
                  <a:moveTo>
                    <a:pt x="5760720" y="0"/>
                  </a:moveTo>
                  <a:lnTo>
                    <a:pt x="0" y="0"/>
                  </a:lnTo>
                  <a:lnTo>
                    <a:pt x="0" y="6073"/>
                  </a:lnTo>
                  <a:lnTo>
                    <a:pt x="5760720" y="6073"/>
                  </a:lnTo>
                  <a:lnTo>
                    <a:pt x="5760720" y="0"/>
                  </a:lnTo>
                  <a:close/>
                </a:path>
              </a:pathLst>
            </a:custGeom>
            <a:solidFill>
              <a:srgbClr val="D4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58162"/>
              <a:ext cx="5760720" cy="6350"/>
            </a:xfrm>
            <a:custGeom>
              <a:avLst/>
              <a:gdLst/>
              <a:ahLst/>
              <a:cxnLst/>
              <a:rect l="l" t="t" r="r" b="b"/>
              <a:pathLst>
                <a:path w="5760720" h="6350">
                  <a:moveTo>
                    <a:pt x="5760720" y="0"/>
                  </a:moveTo>
                  <a:lnTo>
                    <a:pt x="0" y="0"/>
                  </a:lnTo>
                  <a:lnTo>
                    <a:pt x="0" y="6073"/>
                  </a:lnTo>
                  <a:lnTo>
                    <a:pt x="5760720" y="6073"/>
                  </a:lnTo>
                  <a:lnTo>
                    <a:pt x="5760720" y="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10" dirty="0"/>
              <a:t>14</a:t>
            </a:fld>
            <a:r>
              <a:rPr spc="-10" dirty="0"/>
              <a:t>/17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D91CF4-83DF-442C-8C94-C8AE95F2B88C}"/>
              </a:ext>
            </a:extLst>
          </p:cNvPr>
          <p:cNvSpPr txBox="1"/>
          <p:nvPr/>
        </p:nvSpPr>
        <p:spPr>
          <a:xfrm>
            <a:off x="571356" y="424687"/>
            <a:ext cx="4323123" cy="2513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</a:pPr>
            <a:r>
              <a:rPr lang="ru-RU" sz="1100" dirty="0">
                <a:solidFill>
                  <a:srgbClr val="0F1115"/>
                </a:solidFill>
                <a:effectLst/>
                <a:latin typeface="Inter" panose="020B05020300000000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ходе лабораторной работы:</a:t>
            </a:r>
            <a:endParaRPr lang="ru-RU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100" dirty="0">
                <a:solidFill>
                  <a:srgbClr val="0F1115"/>
                </a:solidFill>
                <a:effectLst/>
                <a:latin typeface="Inter" panose="020B05020300000000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Изучены структуры данных, реализованные в </a:t>
            </a:r>
            <a:r>
              <a:rPr lang="ru-RU" sz="1100" dirty="0" err="1">
                <a:solidFill>
                  <a:srgbClr val="0F1115"/>
                </a:solidFill>
                <a:effectLst/>
                <a:latin typeface="Inter" panose="020B05020300000000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Julia</a:t>
            </a:r>
            <a:r>
              <a:rPr lang="ru-RU" sz="1100" dirty="0">
                <a:solidFill>
                  <a:srgbClr val="0F1115"/>
                </a:solidFill>
                <a:effectLst/>
                <a:latin typeface="Inter" panose="020B05020300000000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кортежи, словари, множества, массивы.</a:t>
            </a:r>
            <a:endParaRPr lang="ru-RU" sz="1050" dirty="0">
              <a:solidFill>
                <a:srgbClr val="0F1115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100" dirty="0">
                <a:solidFill>
                  <a:srgbClr val="0F1115"/>
                </a:solidFill>
                <a:effectLst/>
                <a:latin typeface="Inter" panose="020B05020300000000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Освоены операции над ними: индексация, доступ по ключу, теоретико-множественные операции, работа с многомерными массивами.</a:t>
            </a:r>
            <a:endParaRPr lang="ru-RU" sz="1050" dirty="0">
              <a:solidFill>
                <a:srgbClr val="0F1115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100" dirty="0">
                <a:solidFill>
                  <a:srgbClr val="0F1115"/>
                </a:solidFill>
                <a:effectLst/>
                <a:latin typeface="Inter" panose="020B05020300000000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Изучены общие функции</a:t>
            </a:r>
            <a:r>
              <a:rPr lang="en-US" sz="1100" dirty="0">
                <a:solidFill>
                  <a:srgbClr val="0F1115"/>
                </a:solidFill>
                <a:effectLst/>
                <a:latin typeface="Inter" panose="020B05020300000000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900" dirty="0" err="1">
                <a:solidFill>
                  <a:srgbClr val="0F1115"/>
                </a:solidFill>
                <a:effectLst/>
                <a:latin typeface="var(--ds-font-family-code)"/>
                <a:ea typeface="Times New Roman" panose="02020603050405020304" pitchFamily="18" charset="0"/>
                <a:cs typeface="Courier New" panose="02070309020205020404" pitchFamily="49" charset="0"/>
              </a:rPr>
              <a:t>isempty</a:t>
            </a:r>
            <a:r>
              <a:rPr lang="en-US" sz="900" dirty="0">
                <a:solidFill>
                  <a:srgbClr val="0F1115"/>
                </a:solidFill>
                <a:effectLst/>
                <a:latin typeface="var(--ds-font-family-code)"/>
                <a:ea typeface="Times New Roman" panose="02020603050405020304" pitchFamily="18" charset="0"/>
                <a:cs typeface="Courier New" panose="02070309020205020404" pitchFamily="49" charset="0"/>
              </a:rPr>
              <a:t>()</a:t>
            </a:r>
            <a:r>
              <a:rPr lang="en-US" sz="1100" dirty="0">
                <a:solidFill>
                  <a:srgbClr val="0F1115"/>
                </a:solidFill>
                <a:effectLst/>
                <a:latin typeface="Inter" panose="020B05020300000000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900" dirty="0">
                <a:solidFill>
                  <a:srgbClr val="0F1115"/>
                </a:solidFill>
                <a:effectLst/>
                <a:latin typeface="var(--ds-font-family-code)"/>
                <a:ea typeface="Times New Roman" panose="02020603050405020304" pitchFamily="18" charset="0"/>
                <a:cs typeface="Courier New" panose="02070309020205020404" pitchFamily="49" charset="0"/>
              </a:rPr>
              <a:t>length()</a:t>
            </a:r>
            <a:r>
              <a:rPr lang="en-US" sz="1100" dirty="0">
                <a:solidFill>
                  <a:srgbClr val="0F1115"/>
                </a:solidFill>
                <a:effectLst/>
                <a:latin typeface="Inter" panose="020B05020300000000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900" dirty="0">
                <a:solidFill>
                  <a:srgbClr val="0F1115"/>
                </a:solidFill>
                <a:effectLst/>
                <a:latin typeface="var(--ds-font-family-code)"/>
                <a:ea typeface="Times New Roman" panose="02020603050405020304" pitchFamily="18" charset="0"/>
                <a:cs typeface="Courier New" panose="02070309020205020404" pitchFamily="49" charset="0"/>
              </a:rPr>
              <a:t>in()</a:t>
            </a:r>
            <a:r>
              <a:rPr lang="en-US" sz="1100" dirty="0">
                <a:solidFill>
                  <a:srgbClr val="0F1115"/>
                </a:solidFill>
                <a:effectLst/>
                <a:latin typeface="Inter" panose="020B05020300000000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900" dirty="0">
                <a:solidFill>
                  <a:srgbClr val="0F1115"/>
                </a:solidFill>
                <a:effectLst/>
                <a:latin typeface="var(--ds-font-family-code)"/>
                <a:ea typeface="Times New Roman" panose="02020603050405020304" pitchFamily="18" charset="0"/>
                <a:cs typeface="Courier New" panose="02070309020205020404" pitchFamily="49" charset="0"/>
              </a:rPr>
              <a:t>unique()</a:t>
            </a:r>
            <a:r>
              <a:rPr lang="en-US" sz="1100" dirty="0">
                <a:solidFill>
                  <a:srgbClr val="0F1115"/>
                </a:solidFill>
                <a:effectLst/>
                <a:latin typeface="Inter" panose="020B05020300000000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900" dirty="0">
                <a:solidFill>
                  <a:srgbClr val="0F1115"/>
                </a:solidFill>
                <a:effectLst/>
                <a:latin typeface="var(--ds-font-family-code)"/>
                <a:ea typeface="Times New Roman" panose="02020603050405020304" pitchFamily="18" charset="0"/>
                <a:cs typeface="Courier New" panose="02070309020205020404" pitchFamily="49" charset="0"/>
              </a:rPr>
              <a:t>reduce()</a:t>
            </a:r>
            <a:r>
              <a:rPr lang="en-US" sz="1100" dirty="0">
                <a:solidFill>
                  <a:srgbClr val="0F1115"/>
                </a:solidFill>
                <a:effectLst/>
                <a:latin typeface="Inter" panose="020B05020300000000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900" dirty="0">
                <a:solidFill>
                  <a:srgbClr val="0F1115"/>
                </a:solidFill>
                <a:effectLst/>
                <a:latin typeface="var(--ds-font-family-code)"/>
                <a:ea typeface="Times New Roman" panose="02020603050405020304" pitchFamily="18" charset="0"/>
                <a:cs typeface="Courier New" panose="02070309020205020404" pitchFamily="49" charset="0"/>
              </a:rPr>
              <a:t>maximum()</a:t>
            </a:r>
            <a:r>
              <a:rPr lang="en-US" sz="1100" dirty="0">
                <a:solidFill>
                  <a:srgbClr val="0F1115"/>
                </a:solidFill>
                <a:effectLst/>
                <a:latin typeface="Inter" panose="020B05020300000000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900" dirty="0">
                <a:solidFill>
                  <a:srgbClr val="0F1115"/>
                </a:solidFill>
                <a:effectLst/>
                <a:latin typeface="var(--ds-font-family-code)"/>
                <a:ea typeface="Times New Roman" panose="02020603050405020304" pitchFamily="18" charset="0"/>
                <a:cs typeface="Courier New" panose="02070309020205020404" pitchFamily="49" charset="0"/>
              </a:rPr>
              <a:t>minimum()</a:t>
            </a:r>
            <a:r>
              <a:rPr lang="en-US" sz="1100" dirty="0">
                <a:solidFill>
                  <a:srgbClr val="0F1115"/>
                </a:solidFill>
                <a:effectLst/>
                <a:latin typeface="Inter" panose="020B05020300000000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050" dirty="0">
              <a:solidFill>
                <a:srgbClr val="0F1115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100" dirty="0">
                <a:solidFill>
                  <a:srgbClr val="0F1115"/>
                </a:solidFill>
                <a:effectLst/>
                <a:latin typeface="Inter" panose="020B05020300000000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Получены навыки работы с пакетами </a:t>
            </a:r>
            <a:r>
              <a:rPr lang="ru-RU" sz="1100" dirty="0" err="1">
                <a:solidFill>
                  <a:srgbClr val="0F1115"/>
                </a:solidFill>
                <a:effectLst/>
                <a:latin typeface="Inter" panose="020B05020300000000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Julia</a:t>
            </a:r>
            <a:r>
              <a:rPr lang="ru-RU" sz="1100" dirty="0">
                <a:solidFill>
                  <a:srgbClr val="0F1115"/>
                </a:solidFill>
                <a:effectLst/>
                <a:latin typeface="Inter" panose="020B05020300000000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и оформления результатов в </a:t>
            </a:r>
            <a:r>
              <a:rPr lang="ru-RU" sz="1100" dirty="0" err="1">
                <a:solidFill>
                  <a:srgbClr val="0F1115"/>
                </a:solidFill>
                <a:effectLst/>
                <a:latin typeface="Inter" panose="020B05020300000000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ru-RU" sz="1100" dirty="0">
                <a:solidFill>
                  <a:srgbClr val="0F1115"/>
                </a:solidFill>
                <a:effectLst/>
                <a:latin typeface="Inter" panose="020B05020300000000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Lab.</a:t>
            </a:r>
            <a:endParaRPr lang="ru-RU" sz="1050" dirty="0">
              <a:solidFill>
                <a:srgbClr val="0F1115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13739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138</Words>
  <Application>Microsoft Office PowerPoint</Application>
  <PresentationFormat>Произвольный</PresentationFormat>
  <Paragraphs>39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0" baseType="lpstr">
      <vt:lpstr>Calibri</vt:lpstr>
      <vt:lpstr>Inter</vt:lpstr>
      <vt:lpstr>Lucida Sans Unicode</vt:lpstr>
      <vt:lpstr>Tahoma</vt:lpstr>
      <vt:lpstr>var(--ds-font-family-code)</vt:lpstr>
      <vt:lpstr>Office Theme</vt:lpstr>
      <vt:lpstr>Лабораторная работа №2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Вывод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№4 - Первоначальное конфигурирование сети</dc:title>
  <dc:creator>Владимир Базлов</dc:creator>
  <cp:lastModifiedBy>Владимир Бaзлов</cp:lastModifiedBy>
  <cp:revision>1</cp:revision>
  <dcterms:created xsi:type="dcterms:W3CDTF">2026-09-22T15:53:08Z</dcterms:created>
  <dcterms:modified xsi:type="dcterms:W3CDTF">2026-09-22T16:02:11Z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v10.0.20070.1</vt:lpwstr>
  </property>
  <property fmtid="{D5CDD505-2E9C-101B-9397-08002B2CF9AE}" pid="3" name="Created">
    <vt:filetime>2026-09-10T00:00:00Z</vt:filetime>
  </property>
  <property fmtid="{D5CDD505-2E9C-101B-9397-08002B2CF9AE}" pid="4" name="Creator">
    <vt:lpwstr>Microsoft® PowerPoint® LTSC</vt:lpwstr>
  </property>
  <property fmtid="{D5CDD505-2E9C-101B-9397-08002B2CF9AE}" pid="5" name="LastSaved">
    <vt:filetime>2026-09-22T00:00:00Z</vt:filetime>
  </property>
  <property fmtid="{D5CDD505-2E9C-101B-9397-08002B2CF9AE}" pid="6" name="Producer">
    <vt:lpwstr>Microsoft® PowerPoint® LTSC</vt:lpwstr>
  </property>
</Properties>
</file>